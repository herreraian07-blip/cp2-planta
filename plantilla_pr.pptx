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4" r:id="rId5"/>
  </p:sldIdLst>
  <p:sldSz cx="6858000" cy="9144000" type="screen4x3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Gulim" panose="020B0600000101010101" pitchFamily="34" charset="-127"/>
        <a:ea typeface="Gulim" panose="020B0600000101010101" pitchFamily="34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Gulim" panose="020B0600000101010101" pitchFamily="34" charset="-127"/>
        <a:ea typeface="Gulim" panose="020B0600000101010101" pitchFamily="34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Gulim" panose="020B0600000101010101" pitchFamily="34" charset="-127"/>
        <a:ea typeface="Gulim" panose="020B0600000101010101" pitchFamily="34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Gulim" panose="020B0600000101010101" pitchFamily="34" charset="-127"/>
        <a:ea typeface="Gulim" panose="020B0600000101010101" pitchFamily="34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Gulim" panose="020B0600000101010101" pitchFamily="34" charset="-127"/>
        <a:ea typeface="Gulim" panose="020B0600000101010101" pitchFamily="34" charset="-127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Gulim" panose="020B0600000101010101" pitchFamily="34" charset="-127"/>
        <a:ea typeface="Gulim" panose="020B0600000101010101" pitchFamily="34" charset="-127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Gulim" panose="020B0600000101010101" pitchFamily="34" charset="-127"/>
        <a:ea typeface="Gulim" panose="020B0600000101010101" pitchFamily="34" charset="-127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Gulim" panose="020B0600000101010101" pitchFamily="34" charset="-127"/>
        <a:ea typeface="Gulim" panose="020B0600000101010101" pitchFamily="34" charset="-127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Gulim" panose="020B0600000101010101" pitchFamily="34" charset="-127"/>
        <a:ea typeface="Gulim" panose="020B0600000101010101" pitchFamily="34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FF"/>
    <a:srgbClr val="FFFFCC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BA3CA2-2971-6D58-5416-9D881BB9A7BA}" v="128" dt="2026-08-21T18:55:25.0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2366" y="67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an Herrera" userId="S::iherrera@poscoargentina.com::93b8eed2-8f02-45e2-ac6f-cd1cc958c756" providerId="AD" clId="Web-{90BA3CA2-2971-6D58-5416-9D881BB9A7BA}"/>
    <pc:docChg chg="modSld">
      <pc:chgData name="Ian Herrera" userId="S::iherrera@poscoargentina.com::93b8eed2-8f02-45e2-ac6f-cd1cc958c756" providerId="AD" clId="Web-{90BA3CA2-2971-6D58-5416-9D881BB9A7BA}" dt="2026-08-21T18:55:24.316" v="78" actId="20577"/>
      <pc:docMkLst>
        <pc:docMk/>
      </pc:docMkLst>
      <pc:sldChg chg="modSp">
        <pc:chgData name="Ian Herrera" userId="S::iherrera@poscoargentina.com::93b8eed2-8f02-45e2-ac6f-cd1cc958c756" providerId="AD" clId="Web-{90BA3CA2-2971-6D58-5416-9D881BB9A7BA}" dt="2026-08-21T18:55:24.316" v="78" actId="20577"/>
        <pc:sldMkLst>
          <pc:docMk/>
          <pc:sldMk cId="0" sldId="264"/>
        </pc:sldMkLst>
        <pc:spChg chg="mod">
          <ac:chgData name="Ian Herrera" userId="S::iherrera@poscoargentina.com::93b8eed2-8f02-45e2-ac6f-cd1cc958c756" providerId="AD" clId="Web-{90BA3CA2-2971-6D58-5416-9D881BB9A7BA}" dt="2026-08-21T18:55:24.316" v="78" actId="20577"/>
          <ac:spMkLst>
            <pc:docMk/>
            <pc:sldMk cId="0" sldId="264"/>
            <ac:spMk id="2077" creationId="{5999165F-E756-3A26-44D1-E71BAA49A62E}"/>
          </ac:spMkLst>
        </pc:spChg>
        <pc:graphicFrameChg chg="mod modGraphic">
          <ac:chgData name="Ian Herrera" userId="S::iherrera@poscoargentina.com::93b8eed2-8f02-45e2-ac6f-cd1cc958c756" providerId="AD" clId="Web-{90BA3CA2-2971-6D58-5416-9D881BB9A7BA}" dt="2026-08-21T18:48:14.532" v="44"/>
          <ac:graphicFrameMkLst>
            <pc:docMk/>
            <pc:sldMk cId="0" sldId="264"/>
            <ac:graphicFrameMk id="3953" creationId="{D9C8F7CD-1B18-27ED-DA59-CB530BE7EAF3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038"/>
            <a:ext cx="5829300" cy="196056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66AB397-7794-7BF6-0AAF-F1031F4F6A9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C0A9429-F378-964A-9EA9-5716D2BC99C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A6E3478-FD12-2B64-6FE6-85126EB207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48D468-FC28-40E2-BAE3-8FFCADA87D9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59021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C06F7F6-B317-BEA0-EDC6-6248621B1AD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02B741E-12DC-5700-5A3D-2F4269421C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14EE9FA-B672-85B7-7830-5F5CBF5F6D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207B03-0F7A-4CB0-B0A6-B8733DD4B08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53465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338" y="5875338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338" y="3875088"/>
            <a:ext cx="5829300" cy="200025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13C8BE5-C9EB-0732-13E2-D25AB34A59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42C36E7-03ED-3A83-0010-6A73B6EBFD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17F0132-1B88-8E29-EF97-C4AFFCFA5D3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9D57B-A7DD-4144-BD26-85D3643A769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16214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42900" y="2133600"/>
            <a:ext cx="3009900" cy="6034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505200" y="2133600"/>
            <a:ext cx="3009900" cy="6034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CF6EA6-DBE9-7651-4139-D1E145B769F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D4DF9E-C965-F8DC-B389-AE5E87B5F38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715913-78E4-46BC-4E69-E0C224FACC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57EF31-F298-40EE-921F-50237E1B577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82900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288"/>
            <a:ext cx="3030538" cy="854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900363"/>
            <a:ext cx="3030538" cy="526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4563" y="2046288"/>
            <a:ext cx="3030537" cy="854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4563" y="2900363"/>
            <a:ext cx="3030537" cy="526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BE64F16-1795-5273-3731-68B08C051E0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C5BD777-FF5B-FBD6-48E2-AB201D6E09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5903A3B-531D-3AA6-9285-64AA1594B4C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664E73-978A-4652-BEF3-21F0F4556D8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39631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4B70C49-1FDD-1EDA-1C89-D0643C3147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B5A92F6-59E7-2892-05DC-3DCC912D77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F53B010-3E59-6E35-D109-5C895B7879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CB3DEC-89CD-43A0-A07D-BB15F2A02F8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05992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F888D16-5944-453B-B51A-30128816F1D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A7575BF-D0EB-64AF-E0D6-033C1C1897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A95E33C-067C-D041-C696-33DB55157B2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83A0B7-2F6D-43E8-8DEB-34911DEC12D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6495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3538"/>
            <a:ext cx="2255838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63538"/>
            <a:ext cx="3833812" cy="78041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2938"/>
            <a:ext cx="2255838" cy="62547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CE1436-DA90-9468-46E1-A37C06E780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CC72FB-86F0-635E-8403-B94B1B0EB43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CE2DC1-D74B-1F79-EE4D-50D93D6BE4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AB73E0-C013-4585-B4F2-7D1D0ABA653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23787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613" y="6400800"/>
            <a:ext cx="4114800" cy="7556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613" y="81756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613" y="7156450"/>
            <a:ext cx="4114800" cy="10731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4F1A66-E1AB-1150-1750-3A3E35A2C40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B52D28-4FD3-9CEC-5A3B-F013064A13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3259E6-7D8D-E920-8E61-8F49C478253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997A86-FB9C-4C9D-85BD-EB85F8924A3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19438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55BAF44-9C69-A577-8896-A32819B4019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C277E2B-5095-2EA9-821A-27BC05F170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C9AB724-A0CD-5967-933D-3546CB7F83B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4F62D2-C78E-4EAF-A002-F3F44A3EA31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36790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4972050" y="366713"/>
            <a:ext cx="1543050" cy="78009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342900" y="366713"/>
            <a:ext cx="4476750" cy="78009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4459F46-B55F-6FA3-24F2-0D918F298C7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59297F2-9153-2208-B59D-4B865AD0894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50B4209-4CBE-0369-CE7E-95091DE2FB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CA66ED-B8AD-4433-9797-03A9568B8A0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48834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162F358-B8C8-A4D2-92CD-80206FDC7A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42900" y="366713"/>
            <a:ext cx="61722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1CD2FAC-9114-6203-B9D6-3F2E8E60A4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2133600"/>
            <a:ext cx="6172200" cy="603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F578626-E9E3-0E67-0252-0744D1258B3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42900" y="8326438"/>
            <a:ext cx="16002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368CD19-434F-3D16-46D7-FED5CD3827E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343150" y="8326438"/>
            <a:ext cx="21717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BF0A769-EF80-5E14-7F0D-FF0BCF7ED86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914900" y="8326438"/>
            <a:ext cx="16002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/>
            </a:lvl1pPr>
          </a:lstStyle>
          <a:p>
            <a:pPr>
              <a:defRPr/>
            </a:pPr>
            <a:fld id="{F99CAA6E-206D-46EB-AA1C-8F0DBBF3971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Gulim" panose="020B0600000101010101" pitchFamily="34" charset="-127"/>
          <a:ea typeface="Gulim" panose="020B0600000101010101" pitchFamily="34" charset="-127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Gulim" panose="020B0600000101010101" pitchFamily="34" charset="-127"/>
          <a:ea typeface="Gulim" panose="020B0600000101010101" pitchFamily="34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Gulim" panose="020B0600000101010101" pitchFamily="34" charset="-127"/>
          <a:ea typeface="Gulim" panose="020B0600000101010101" pitchFamily="34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Gulim" panose="020B0600000101010101" pitchFamily="34" charset="-127"/>
          <a:ea typeface="Gulim" panose="020B0600000101010101" pitchFamily="34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Gulim" panose="020B0600000101010101" pitchFamily="34" charset="-127"/>
          <a:ea typeface="Gulim" panose="020B0600000101010101" pitchFamily="34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Gulim" panose="020B0600000101010101" pitchFamily="34" charset="-127"/>
          <a:ea typeface="Gulim" panose="020B0600000101010101" pitchFamily="34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Gulim" panose="020B0600000101010101" pitchFamily="34" charset="-127"/>
          <a:ea typeface="Gulim" panose="020B0600000101010101" pitchFamily="34" charset="-127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Gulim" panose="020B0600000101010101" pitchFamily="34" charset="-127"/>
          <a:ea typeface="Gulim" panose="020B0600000101010101" pitchFamily="34" charset="-127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Gulim" panose="020B0600000101010101" pitchFamily="34" charset="-127"/>
          <a:ea typeface="Gulim" panose="020B0600000101010101" pitchFamily="34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Gulim" panose="020B0600000101010101" pitchFamily="34" charset="-127"/>
          <a:ea typeface="Gulim" panose="020B0600000101010101" pitchFamily="34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53" name="Group 881">
            <a:extLst>
              <a:ext uri="{FF2B5EF4-FFF2-40B4-BE49-F238E27FC236}">
                <a16:creationId xmlns:a16="http://schemas.microsoft.com/office/drawing/2014/main" id="{D9C8F7CD-1B18-27ED-DA59-CB530BE7EA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468170"/>
              </p:ext>
            </p:extLst>
          </p:nvPr>
        </p:nvGraphicFramePr>
        <p:xfrm>
          <a:off x="95250" y="28575"/>
          <a:ext cx="6646863" cy="2782024"/>
        </p:xfrm>
        <a:graphic>
          <a:graphicData uri="http://schemas.openxmlformats.org/drawingml/2006/table">
            <a:tbl>
              <a:tblPr/>
              <a:tblGrid>
                <a:gridCol w="1782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23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63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55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1076">
                <a:tc gridSpan="4"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s-AR" altLang="ko-KR" sz="2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algun Gothic"/>
                          <a:cs typeface="Calibri"/>
                        </a:rPr>
                        <a:t>Request</a:t>
                      </a:r>
                      <a:r>
                        <a:rPr kumimoji="1" lang="es-AR" altLang="ko-KR" sz="2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algun Gothic"/>
                          <a:cs typeface="Calibri"/>
                        </a:rPr>
                        <a:t> </a:t>
                      </a:r>
                      <a:r>
                        <a:rPr kumimoji="1" lang="es-AR" altLang="ko-KR" sz="2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algun Gothic"/>
                          <a:cs typeface="Calibri"/>
                        </a:rPr>
                        <a:t>Authorization</a:t>
                      </a:r>
                      <a:r>
                        <a:rPr kumimoji="1" lang="es-AR" altLang="ko-KR" sz="2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algun Gothic"/>
                          <a:cs typeface="Calibri"/>
                        </a:rPr>
                        <a:t> Purchase</a:t>
                      </a:r>
                      <a:endParaRPr kumimoji="1" lang="ko-KR" altLang="en-US" sz="2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Malgun Gothic"/>
                        <a:cs typeface="Calibri"/>
                      </a:endParaRPr>
                    </a:p>
                  </a:txBody>
                  <a:tcPr marL="90000" marR="90000" marT="46722" marB="46722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1614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algun Gothic"/>
                          <a:cs typeface="Calibri"/>
                        </a:rPr>
                        <a:t>Request Date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Malgun Gothic"/>
                        <a:cs typeface="Calibri"/>
                      </a:endParaRPr>
                    </a:p>
                  </a:txBody>
                  <a:tcPr marT="45644" marB="45644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9pPr>
                    </a:lstStyle>
                    <a:p>
                      <a:pPr marL="0" marR="0" lvl="0" indent="0" algn="l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algun Gothic"/>
                          <a:cs typeface="Calibri"/>
                        </a:rPr>
                        <a:t> </a:t>
                      </a:r>
                      <a:r>
                        <a:rPr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algun Gothic"/>
                          <a:cs typeface="Calibri"/>
                        </a:rPr>
                        <a:t>        </a:t>
                      </a:r>
                      <a:r>
                        <a:rPr lang="es-AR" altLang="ko-K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algun Gothic"/>
                          <a:cs typeface="Calibri"/>
                        </a:rPr>
                        <a:t>21</a:t>
                      </a:r>
                      <a:r>
                        <a:rPr lang="ko-KR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algun Gothic"/>
                          <a:cs typeface="Calibri"/>
                        </a:rPr>
                        <a:t>/08/2026</a:t>
                      </a:r>
                      <a:endParaRPr kumimoji="1" lang="es-MX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Malgun Gothic"/>
                        <a:cs typeface="Calibri"/>
                      </a:endParaRPr>
                    </a:p>
                  </a:txBody>
                  <a:tcPr marT="45644" marB="456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algun Gothic"/>
                          <a:cs typeface="Calibri"/>
                        </a:rPr>
                        <a:t>Director of Department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Malgun Gothic"/>
                        <a:cs typeface="Calibri"/>
                      </a:endParaRPr>
                    </a:p>
                  </a:txBody>
                  <a:tcPr marT="45644" marB="4564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algun Gothic"/>
                          <a:cs typeface="Calibri"/>
                        </a:rPr>
                        <a:t>Vice President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algun Gothic"/>
                          <a:cs typeface="Calibri"/>
                        </a:rPr>
                        <a:t>Of Production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Malgun Gothic"/>
                        <a:cs typeface="Calibri"/>
                      </a:endParaRPr>
                    </a:p>
                  </a:txBody>
                  <a:tcPr marT="45644" marB="4564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0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algun Gothic"/>
                          <a:cs typeface="Calibri"/>
                        </a:rPr>
                        <a:t>Approval Dat</a:t>
                      </a:r>
                      <a:endParaRPr kumimoji="1" lang="ko-KR" altLang="en-US" sz="1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Malgun Gothic"/>
                        <a:cs typeface="Calibri"/>
                      </a:endParaRPr>
                    </a:p>
                  </a:txBody>
                  <a:tcPr marT="45644" marB="45644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Malgun Gothic"/>
                        <a:cs typeface="Calibri"/>
                      </a:endParaRPr>
                    </a:p>
                  </a:txBody>
                  <a:tcPr marT="45644" marB="456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algun Gothic"/>
                          <a:cs typeface="Calibri"/>
                        </a:rPr>
                        <a:t>Signature</a:t>
                      </a: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Malgun Gothic"/>
                        <a:cs typeface="Calibri"/>
                      </a:endParaRPr>
                    </a:p>
                  </a:txBody>
                  <a:tcPr marT="45644" marB="4564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algun Gothic"/>
                          <a:cs typeface="Calibri"/>
                        </a:rPr>
                        <a:t>   Signature</a:t>
                      </a: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Malgun Gothic"/>
                        <a:cs typeface="Calibri"/>
                      </a:endParaRPr>
                    </a:p>
                  </a:txBody>
                  <a:tcPr marT="45644" marB="4564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2537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algun Gothic"/>
                          <a:cs typeface="Calibri"/>
                        </a:rPr>
                        <a:t>Requester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Malgun Gothic"/>
                        <a:cs typeface="Calibri"/>
                      </a:endParaRPr>
                    </a:p>
                  </a:txBody>
                  <a:tcPr marT="45644" marB="45644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9pPr>
                    </a:lstStyle>
                    <a:p>
                      <a:pPr marL="0" marR="0" lvl="0" indent="0" algn="l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algun Gothic"/>
                          <a:cs typeface="Calibri"/>
                        </a:rPr>
                        <a:t>Herrera Ian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Malgun Gothic"/>
                        <a:cs typeface="Calibri"/>
                      </a:endParaRPr>
                    </a:p>
                  </a:txBody>
                  <a:tcPr marT="45644" marB="456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3076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400" b="1" dirty="0">
                          <a:latin typeface="Calibri"/>
                          <a:cs typeface="Calibri"/>
                        </a:rPr>
                        <a:t>Title</a:t>
                      </a:r>
                    </a:p>
                  </a:txBody>
                  <a:tcPr marT="45644" marB="45644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Gulim" panose="020B0600000101010101" pitchFamily="34" charset="-127"/>
                          <a:ea typeface="Gulim" panose="020B0600000101010101" pitchFamily="34" charset="-127"/>
                        </a:defRPr>
                      </a:lvl9pPr>
                    </a:lstStyle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4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ulim"/>
                          <a:ea typeface="Gulim"/>
                        </a:rPr>
                        <a:t>Purchase of </a:t>
                      </a:r>
                      <a:r>
                        <a:rPr lang="en-US" sz="14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Mechanical seals 3100-PU-020</a:t>
                      </a:r>
                      <a:endParaRPr lang="es-ES"/>
                    </a:p>
                  </a:txBody>
                  <a:tcPr marT="45644" marB="456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074" name="Imagen 1" descr="Descripción: Logo Posco Argentina - Firma email">
            <a:extLst>
              <a:ext uri="{FF2B5EF4-FFF2-40B4-BE49-F238E27FC236}">
                <a16:creationId xmlns:a16="http://schemas.microsoft.com/office/drawing/2014/main" id="{5ECAF0D9-6FFE-E793-C7CE-3FA941B953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344" y="67634"/>
            <a:ext cx="1088943" cy="34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77" name="직사각형 7">
            <a:extLst>
              <a:ext uri="{FF2B5EF4-FFF2-40B4-BE49-F238E27FC236}">
                <a16:creationId xmlns:a16="http://schemas.microsoft.com/office/drawing/2014/main" id="{5999165F-E756-3A26-44D1-E71BAA49A6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98" y="2872415"/>
            <a:ext cx="6646862" cy="528824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 latinLnBrk="0">
              <a:lnSpc>
                <a:spcPct val="140000"/>
              </a:lnSpc>
              <a:spcBef>
                <a:spcPts val="600"/>
              </a:spcBef>
              <a:buFontTx/>
              <a:buNone/>
              <a:defRPr/>
            </a:pPr>
            <a:r>
              <a:rPr lang="ko-KR" altLang="en-US" sz="1400" b="1" dirty="0">
                <a:latin typeface="+mj-ea"/>
                <a:ea typeface="+mj-ea"/>
                <a:cs typeface="Calibri"/>
              </a:rPr>
              <a:t>○ </a:t>
            </a:r>
            <a:r>
              <a:rPr lang="es-MX" altLang="ko-KR" sz="1400" b="1" dirty="0">
                <a:latin typeface="+mj-ea"/>
                <a:ea typeface="+mj-ea"/>
                <a:cs typeface="Calibri"/>
              </a:rPr>
              <a:t>No. </a:t>
            </a:r>
            <a:r>
              <a:rPr lang="es-MX" altLang="ko-KR" sz="1400" b="1" dirty="0" err="1">
                <a:latin typeface="+mj-ea"/>
                <a:ea typeface="+mj-ea"/>
                <a:cs typeface="Calibri"/>
              </a:rPr>
              <a:t>Request</a:t>
            </a:r>
            <a:r>
              <a:rPr lang="es-MX" altLang="ko-KR" sz="1400" b="1" dirty="0">
                <a:latin typeface="+mj-ea"/>
                <a:ea typeface="+mj-ea"/>
                <a:cs typeface="Calibri"/>
              </a:rPr>
              <a:t> :</a:t>
            </a:r>
            <a:r>
              <a:rPr lang="es-MX" altLang="ko-KR" sz="1400" dirty="0">
                <a:latin typeface="+mj-ea"/>
                <a:ea typeface="+mj-ea"/>
              </a:rPr>
              <a:t> </a:t>
            </a:r>
            <a:r>
              <a:rPr lang="es-ES" sz="1400" dirty="0">
                <a:latin typeface="Gulim"/>
                <a:ea typeface="Gulim"/>
              </a:rPr>
              <a:t>26082101</a:t>
            </a:r>
            <a:endParaRPr lang="es-MX" sz="1400" dirty="0">
              <a:latin typeface="+mj-ea"/>
              <a:ea typeface="+mj-ea"/>
            </a:endParaRPr>
          </a:p>
          <a:p>
            <a:pPr latinLnBrk="0">
              <a:lnSpc>
                <a:spcPct val="140000"/>
              </a:lnSpc>
              <a:spcBef>
                <a:spcPts val="600"/>
              </a:spcBef>
              <a:buNone/>
              <a:defRPr/>
            </a:pPr>
            <a:r>
              <a:rPr lang="ko-KR" altLang="en-US" sz="1400" b="1" dirty="0">
                <a:latin typeface="+mj-ea"/>
                <a:ea typeface="+mj-ea"/>
                <a:cs typeface="Calibri"/>
              </a:rPr>
              <a:t>○ </a:t>
            </a:r>
            <a:r>
              <a:rPr lang="en-US" altLang="ko-KR" sz="1400" b="1" dirty="0">
                <a:latin typeface="+mj-ea"/>
                <a:ea typeface="+mj-ea"/>
              </a:rPr>
              <a:t>Usage Location : </a:t>
            </a:r>
            <a:r>
              <a:rPr lang="en-US" altLang="ko-KR" sz="1400" dirty="0">
                <a:latin typeface="+mj-ea"/>
                <a:ea typeface="+mj-ea"/>
              </a:rPr>
              <a:t>Upstream CP2</a:t>
            </a:r>
            <a:endParaRPr lang="en-US" altLang="ko-KR" sz="1400" dirty="0">
              <a:latin typeface="+mj-ea"/>
              <a:ea typeface="+mj-ea"/>
              <a:cs typeface="Calibri" panose="020F0502020204030204" pitchFamily="34" charset="0"/>
            </a:endParaRPr>
          </a:p>
          <a:p>
            <a:pPr latinLnBrk="0">
              <a:lnSpc>
                <a:spcPct val="140000"/>
              </a:lnSpc>
              <a:spcBef>
                <a:spcPts val="600"/>
              </a:spcBef>
              <a:buNone/>
              <a:defRPr/>
            </a:pPr>
            <a:r>
              <a:rPr lang="ko-KR" altLang="en-US" sz="1400" b="1" dirty="0">
                <a:latin typeface="+mj-ea"/>
                <a:ea typeface="+mj-ea"/>
                <a:cs typeface="Calibri"/>
              </a:rPr>
              <a:t>○ </a:t>
            </a:r>
            <a:r>
              <a:rPr lang="es-MX" altLang="ko-KR" sz="1400" b="1" dirty="0">
                <a:latin typeface="+mj-ea"/>
                <a:ea typeface="+mj-ea"/>
                <a:cs typeface="Calibri"/>
              </a:rPr>
              <a:t>Purchase </a:t>
            </a:r>
            <a:r>
              <a:rPr lang="es-MX" altLang="ko-KR" sz="1400" b="1" dirty="0" err="1">
                <a:latin typeface="+mj-ea"/>
                <a:ea typeface="+mj-ea"/>
                <a:cs typeface="Calibri"/>
              </a:rPr>
              <a:t>Objective</a:t>
            </a:r>
            <a:r>
              <a:rPr lang="es-MX" altLang="ko-KR" sz="1400" b="1" dirty="0">
                <a:latin typeface="+mj-ea"/>
                <a:ea typeface="+mj-ea"/>
                <a:cs typeface="Calibri"/>
              </a:rPr>
              <a:t> </a:t>
            </a:r>
            <a:endParaRPr lang="es-AR" altLang="ko-KR" sz="1400" b="1" dirty="0">
              <a:latin typeface="+mj-ea"/>
              <a:ea typeface="+mj-ea"/>
              <a:cs typeface="Calibri"/>
            </a:endParaRPr>
          </a:p>
          <a:p>
            <a:pPr algn="just">
              <a:buNone/>
              <a:defRPr/>
            </a:pPr>
            <a:r>
              <a:rPr lang="es-MX" sz="1400" dirty="0">
                <a:latin typeface="Gulim"/>
                <a:ea typeface="Gulim"/>
                <a:cs typeface="Segoe UI"/>
              </a:rPr>
              <a:t>El área de mantenimiento requiere la compra de sellos mecánicos de cartucho doble para garantizar la correcta estanqueidad y confiabilidad operativa de los equipos rotativos, asegurando una ejecución eficiente de los trabajos de mantenimiento y preservando la continuidad y estabilidad de los procesos industriales</a:t>
            </a:r>
            <a:r>
              <a:rPr lang="es-AR" sz="1400" dirty="0">
                <a:latin typeface="Gulim"/>
                <a:ea typeface="Gulim"/>
                <a:cs typeface="Segoe UI"/>
              </a:rPr>
              <a:t>.</a:t>
            </a:r>
            <a:endParaRPr lang="es-AR" dirty="0"/>
          </a:p>
          <a:p>
            <a:pPr latinLnBrk="0">
              <a:lnSpc>
                <a:spcPct val="140000"/>
              </a:lnSpc>
              <a:spcBef>
                <a:spcPts val="400"/>
              </a:spcBef>
              <a:buNone/>
              <a:defRPr/>
            </a:pPr>
            <a:r>
              <a:rPr lang="ko-KR" altLang="en-US" sz="1400" b="1" dirty="0">
                <a:latin typeface="+mj-ea"/>
                <a:ea typeface="+mj-ea"/>
              </a:rPr>
              <a:t>○ </a:t>
            </a:r>
            <a:r>
              <a:rPr lang="en-US" altLang="ko-KR" sz="1400" b="1" dirty="0">
                <a:latin typeface="+mj-ea"/>
                <a:ea typeface="+mj-ea"/>
              </a:rPr>
              <a:t>Purchase Type</a:t>
            </a:r>
            <a:r>
              <a:rPr lang="en-US" altLang="ko-KR" sz="1400" dirty="0">
                <a:latin typeface="+mj-ea"/>
                <a:ea typeface="+mj-ea"/>
              </a:rPr>
              <a:t> :</a:t>
            </a:r>
            <a:r>
              <a:rPr lang="en-US" altLang="ko-KR" sz="1300" dirty="0">
                <a:latin typeface="+mj-ea"/>
                <a:ea typeface="+mj-ea"/>
              </a:rPr>
              <a:t>  MRO</a:t>
            </a:r>
          </a:p>
          <a:p>
            <a:pPr>
              <a:lnSpc>
                <a:spcPct val="140000"/>
              </a:lnSpc>
              <a:spcBef>
                <a:spcPts val="400"/>
              </a:spcBef>
              <a:buNone/>
              <a:defRPr/>
            </a:pPr>
            <a:r>
              <a:rPr lang="ko-KR" sz="1400" b="1" dirty="0">
                <a:latin typeface="Gulim"/>
                <a:ea typeface="Gulim"/>
                <a:cs typeface="Calibri"/>
              </a:rPr>
              <a:t>○</a:t>
            </a:r>
            <a:r>
              <a:rPr lang="ko-KR" altLang="en-US" sz="1400" b="1" dirty="0">
                <a:latin typeface="Gulim"/>
                <a:ea typeface="Gulim"/>
                <a:cs typeface="Calibri"/>
              </a:rPr>
              <a:t> </a:t>
            </a:r>
            <a:r>
              <a:rPr lang="ko-KR" sz="1400" b="1" dirty="0">
                <a:latin typeface="Gulim"/>
                <a:ea typeface="Gulim"/>
                <a:cs typeface="Calibri"/>
              </a:rPr>
              <a:t>Type of Contract</a:t>
            </a:r>
            <a:r>
              <a:rPr lang="ko-KR" altLang="en-US" sz="1400" b="1" dirty="0">
                <a:latin typeface="Gulim"/>
                <a:ea typeface="Gulim"/>
                <a:cs typeface="Calibri"/>
              </a:rPr>
              <a:t> </a:t>
            </a:r>
            <a:r>
              <a:rPr lang="ko-KR" altLang="en-US" sz="1400">
                <a:latin typeface="Gulim"/>
                <a:ea typeface="Gulim"/>
                <a:cs typeface="Calibri"/>
              </a:rPr>
              <a:t>: Non Bidding</a:t>
            </a:r>
            <a:endParaRPr lang="en-US" altLang="ko-KR" sz="1400">
              <a:cs typeface="Calibri"/>
            </a:endParaRPr>
          </a:p>
          <a:p>
            <a:pPr latinLnBrk="0">
              <a:lnSpc>
                <a:spcPct val="140000"/>
              </a:lnSpc>
              <a:spcBef>
                <a:spcPts val="600"/>
              </a:spcBef>
              <a:buFontTx/>
              <a:buNone/>
              <a:defRPr/>
            </a:pPr>
            <a:r>
              <a:rPr lang="ko-KR" altLang="en-US" sz="1400" b="1" dirty="0">
                <a:latin typeface="+mj-ea"/>
                <a:ea typeface="+mj-ea"/>
                <a:cs typeface="Calibri"/>
              </a:rPr>
              <a:t>○ </a:t>
            </a:r>
            <a:r>
              <a:rPr lang="en-US" altLang="ko-KR" sz="1400" b="1" dirty="0">
                <a:latin typeface="+mj-ea"/>
                <a:ea typeface="+mj-ea"/>
                <a:cs typeface="Calibri"/>
              </a:rPr>
              <a:t>Purchase Details </a:t>
            </a:r>
          </a:p>
          <a:p>
            <a:pPr>
              <a:buNone/>
            </a:pPr>
            <a:r>
              <a:rPr lang="en-US" altLang="ko-KR" sz="1300" b="1">
                <a:latin typeface="+mj-ea"/>
                <a:ea typeface="+mj-ea"/>
                <a:cs typeface="Calibri"/>
              </a:rPr>
              <a:t>  - </a:t>
            </a:r>
            <a:r>
              <a:rPr lang="en-US" altLang="ko-KR" sz="1300">
                <a:latin typeface="+mj-ea"/>
                <a:ea typeface="+mj-ea"/>
                <a:cs typeface="Calibri"/>
              </a:rPr>
              <a:t>Contract Name or Item Name : </a:t>
            </a:r>
            <a:r>
              <a:rPr lang="en-US" sz="1400">
                <a:latin typeface="Gulim"/>
                <a:ea typeface="Gulim"/>
                <a:cs typeface="Calibri"/>
              </a:rPr>
              <a:t>Purchase of Mechanical seals 3100-PU-020</a:t>
            </a:r>
          </a:p>
          <a:p>
            <a:pPr latinLnBrk="0">
              <a:lnSpc>
                <a:spcPct val="140000"/>
              </a:lnSpc>
              <a:spcBef>
                <a:spcPts val="400"/>
              </a:spcBef>
              <a:buNone/>
              <a:defRPr/>
            </a:pPr>
            <a:r>
              <a:rPr lang="en-US" altLang="ko-KR" sz="1300" b="1" dirty="0">
                <a:latin typeface="+mj-ea"/>
                <a:ea typeface="+mj-ea"/>
                <a:cs typeface="Calibri"/>
              </a:rPr>
              <a:t>  - </a:t>
            </a:r>
            <a:r>
              <a:rPr lang="en-US" altLang="ko-KR" sz="1300">
                <a:latin typeface="+mj-ea"/>
                <a:ea typeface="+mj-ea"/>
                <a:cs typeface="Calibri"/>
              </a:rPr>
              <a:t>Quantity : 1 Items </a:t>
            </a:r>
          </a:p>
          <a:p>
            <a:pPr latinLnBrk="0">
              <a:lnSpc>
                <a:spcPct val="140000"/>
              </a:lnSpc>
              <a:spcBef>
                <a:spcPts val="400"/>
              </a:spcBef>
              <a:buNone/>
              <a:defRPr/>
            </a:pPr>
            <a:r>
              <a:rPr lang="en-US" altLang="ko-KR" sz="1300" b="1" dirty="0">
                <a:latin typeface="+mj-ea"/>
                <a:ea typeface="+mj-ea"/>
                <a:cs typeface="Calibri"/>
              </a:rPr>
              <a:t>  - </a:t>
            </a:r>
            <a:r>
              <a:rPr lang="en-US" altLang="ko-KR" sz="1300">
                <a:latin typeface="+mj-ea"/>
                <a:ea typeface="+mj-ea"/>
                <a:cs typeface="Calibri"/>
              </a:rPr>
              <a:t>Total Amount : USD $ 23.960</a:t>
            </a:r>
            <a:endParaRPr lang="en-US" altLang="ko-KR" sz="1300" dirty="0">
              <a:latin typeface="Gulim"/>
              <a:ea typeface="Gulim"/>
              <a:cs typeface="Calibri"/>
            </a:endParaRPr>
          </a:p>
          <a:p>
            <a:pPr latinLnBrk="0">
              <a:lnSpc>
                <a:spcPct val="140000"/>
              </a:lnSpc>
              <a:spcBef>
                <a:spcPts val="400"/>
              </a:spcBef>
              <a:buNone/>
              <a:defRPr/>
            </a:pPr>
            <a:r>
              <a:rPr lang="ko-KR" altLang="en-US" sz="1400" b="1" dirty="0">
                <a:latin typeface="+mj-ea"/>
                <a:ea typeface="+mj-ea"/>
                <a:cs typeface="Calibri"/>
              </a:rPr>
              <a:t>○ </a:t>
            </a:r>
            <a:r>
              <a:rPr lang="es-MX" altLang="ko-KR" sz="1400" b="1" dirty="0">
                <a:latin typeface="+mj-ea"/>
                <a:ea typeface="+mj-ea"/>
                <a:cs typeface="Calibri"/>
              </a:rPr>
              <a:t>Ca</a:t>
            </a:r>
            <a:r>
              <a:rPr lang="ko-KR" altLang="en-US" sz="1400" b="1">
                <a:latin typeface="+mj-ea"/>
                <a:ea typeface="+mj-ea"/>
                <a:cs typeface="Calibri"/>
              </a:rPr>
              <a:t>pex : </a:t>
            </a:r>
            <a:r>
              <a:rPr lang="ko-KR" sz="1400">
                <a:latin typeface="Gulim"/>
                <a:ea typeface="Gulim"/>
                <a:cs typeface="Calibri"/>
              </a:rPr>
              <a:t>SDO2WA001SDO2CST_26_030</a:t>
            </a:r>
            <a:endParaRPr lang="en-US" altLang="ko-KR" sz="1000" b="1">
              <a:highlight>
                <a:srgbClr val="FFFFFF"/>
              </a:highlight>
              <a:latin typeface="Arial"/>
              <a:ea typeface="Gulim"/>
              <a:cs typeface="Arial"/>
            </a:endParaRPr>
          </a:p>
          <a:p>
            <a:pPr>
              <a:lnSpc>
                <a:spcPct val="140000"/>
              </a:lnSpc>
              <a:spcBef>
                <a:spcPts val="400"/>
              </a:spcBef>
              <a:buNone/>
              <a:defRPr/>
            </a:pPr>
            <a:r>
              <a:rPr lang="ko-KR" sz="1400" b="1" dirty="0">
                <a:latin typeface="Gulim"/>
                <a:ea typeface="Gulim"/>
                <a:cs typeface="Calibri"/>
              </a:rPr>
              <a:t>○ </a:t>
            </a:r>
            <a:r>
              <a:rPr lang="en-US" altLang="ko-KR" sz="1400" b="1" dirty="0">
                <a:latin typeface="Gulim"/>
                <a:ea typeface="Gulim"/>
                <a:cs typeface="Calibri"/>
              </a:rPr>
              <a:t>Cost</a:t>
            </a:r>
            <a:r>
              <a:rPr lang="ko-KR" altLang="en-US" sz="1400" b="1" dirty="0">
                <a:latin typeface="Gulim"/>
                <a:ea typeface="Gulim"/>
                <a:cs typeface="Calibri"/>
              </a:rPr>
              <a:t> Center : </a:t>
            </a:r>
            <a:r>
              <a:rPr lang="en-US" altLang="ko-KR" sz="1000" dirty="0">
                <a:highlight>
                  <a:srgbClr val="FFFFFF"/>
                </a:highlight>
                <a:latin typeface="Arial"/>
                <a:ea typeface="Gulim"/>
                <a:cs typeface="Arial"/>
              </a:rPr>
              <a:t>CBU96</a:t>
            </a:r>
            <a:endParaRPr lang="ko-KR" altLang="en-US" dirty="0"/>
          </a:p>
          <a:p>
            <a:pPr latinLnBrk="0">
              <a:lnSpc>
                <a:spcPct val="140000"/>
              </a:lnSpc>
              <a:spcBef>
                <a:spcPts val="400"/>
              </a:spcBef>
              <a:buNone/>
              <a:defRPr/>
            </a:pPr>
            <a:endParaRPr lang="es-AR" altLang="ko-KR" sz="1300" dirty="0">
              <a:latin typeface="Calibri" panose="020F0502020204030204" pitchFamily="34" charset="0"/>
              <a:ea typeface="Malgun Gothic" panose="020B0503020000020004" pitchFamily="34" charset="-127"/>
              <a:cs typeface="Calibri" panose="020F0502020204030204" pitchFamily="34" charset="0"/>
            </a:endParaRPr>
          </a:p>
        </p:txBody>
      </p:sp>
      <p:sp>
        <p:nvSpPr>
          <p:cNvPr id="2076" name="Line 494">
            <a:extLst>
              <a:ext uri="{FF2B5EF4-FFF2-40B4-BE49-F238E27FC236}">
                <a16:creationId xmlns:a16="http://schemas.microsoft.com/office/drawing/2014/main" id="{CCEABDB3-A156-25F7-98CE-2BEDC620E635}"/>
              </a:ext>
            </a:extLst>
          </p:cNvPr>
          <p:cNvSpPr>
            <a:spLocks noChangeShapeType="1"/>
          </p:cNvSpPr>
          <p:nvPr/>
        </p:nvSpPr>
        <p:spPr bwMode="auto">
          <a:xfrm>
            <a:off x="131692" y="8918797"/>
            <a:ext cx="65976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ext Box 495">
            <a:extLst>
              <a:ext uri="{FF2B5EF4-FFF2-40B4-BE49-F238E27FC236}">
                <a16:creationId xmlns:a16="http://schemas.microsoft.com/office/drawing/2014/main" id="{47FFF809-A560-8C5E-2CF0-2E9F813AB4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014" y="8562630"/>
            <a:ext cx="25923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Gulim" panose="020B0600000101010101" pitchFamily="34" charset="-127"/>
                <a:ea typeface="Gulim" panose="020B0600000101010101" pitchFamily="34" charset="-127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ko-KR" sz="1200">
                <a:latin typeface="Malgun Gothic" panose="020B0503020000020004" pitchFamily="34" charset="-127"/>
                <a:ea typeface="Malgun Gothic" panose="020B0503020000020004" pitchFamily="34" charset="-127"/>
              </a:rPr>
              <a:t>POSCO Argentina S.A.U.</a:t>
            </a:r>
          </a:p>
        </p:txBody>
      </p:sp>
      <p:sp>
        <p:nvSpPr>
          <p:cNvPr id="2078" name="Título 2">
            <a:extLst>
              <a:ext uri="{FF2B5EF4-FFF2-40B4-BE49-F238E27FC236}">
                <a16:creationId xmlns:a16="http://schemas.microsoft.com/office/drawing/2014/main" id="{1381EF13-1EB1-EFA5-0C48-5A226AFF6D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43225" y="8571790"/>
            <a:ext cx="3770313" cy="274638"/>
          </a:xfrm>
        </p:spPr>
        <p:txBody>
          <a:bodyPr/>
          <a:lstStyle/>
          <a:p>
            <a:pPr algn="r"/>
            <a:r>
              <a:rPr lang="es-MX" altLang="es-AR" sz="1100" b="1">
                <a:latin typeface="Arial" panose="020B0604020202020204" pitchFamily="34" charset="0"/>
                <a:cs typeface="Arial" panose="020B0604020202020204" pitchFamily="34" charset="0"/>
              </a:rPr>
              <a:t>Attach: Order Form (R-PRO-SOP-001-A)</a:t>
            </a:r>
            <a:endParaRPr lang="es-AR" altLang="es-AR" sz="11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922508f-1726-4613-ad3e-533ce12311d5" xsi:nil="true"/>
    <lcf76f155ced4ddcb4097134ff3c332f xmlns="476b0a10-b851-4538-916a-7ba9a2af8163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89DB269FBBB6F47AB2DF963C1853C01" ma:contentTypeVersion="12" ma:contentTypeDescription="Create a new document." ma:contentTypeScope="" ma:versionID="bbdb55325e798058bccfafb4fe1ffcd1">
  <xsd:schema xmlns:xsd="http://www.w3.org/2001/XMLSchema" xmlns:xs="http://www.w3.org/2001/XMLSchema" xmlns:p="http://schemas.microsoft.com/office/2006/metadata/properties" xmlns:ns2="476b0a10-b851-4538-916a-7ba9a2af8163" xmlns:ns3="7922508f-1726-4613-ad3e-533ce12311d5" targetNamespace="http://schemas.microsoft.com/office/2006/metadata/properties" ma:root="true" ma:fieldsID="2d789ebb27e2160a6d7f3fb537a95a4f" ns2:_="" ns3:_="">
    <xsd:import namespace="476b0a10-b851-4538-916a-7ba9a2af8163"/>
    <xsd:import namespace="7922508f-1726-4613-ad3e-533ce12311d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6b0a10-b851-4538-916a-7ba9a2af816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92d0cd82-21d4-41bc-9f5c-13d6182424f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22508f-1726-4613-ad3e-533ce12311d5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ef68537b-2a3d-4cab-9b23-725e3c884784}" ma:internalName="TaxCatchAll" ma:showField="CatchAllData" ma:web="7922508f-1726-4613-ad3e-533ce12311d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41CF1F7-633C-4300-912C-0BF2C1A0F4AE}">
  <ds:schemaRefs>
    <ds:schemaRef ds:uri="476b0a10-b851-4538-916a-7ba9a2af8163"/>
    <ds:schemaRef ds:uri="7922508f-1726-4613-ad3e-533ce12311d5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0B493CF0-4CA1-47DD-8698-18FCA76FE51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1BD2767-926A-4E9B-92EB-DA4DE4AA9C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76b0a10-b851-4538-916a-7ba9a2af8163"/>
    <ds:schemaRef ds:uri="7922508f-1726-4613-ad3e-533ce12311d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156</Words>
  <Application>Microsoft Office PowerPoint</Application>
  <PresentationFormat>On-screen Show (4:3)</PresentationFormat>
  <Paragraphs>27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기본 디자인</vt:lpstr>
      <vt:lpstr>Attach: Order Form (R-PRO-SOP-001-A)</vt:lpstr>
    </vt:vector>
  </TitlesOfParts>
  <Company>POSCO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구자룡</dc:creator>
  <cp:lastModifiedBy>Gustavo Garcia</cp:lastModifiedBy>
  <cp:revision>112</cp:revision>
  <cp:lastPrinted>2025-01-29T19:22:34Z</cp:lastPrinted>
  <dcterms:created xsi:type="dcterms:W3CDTF">2008-08-28T15:23:04Z</dcterms:created>
  <dcterms:modified xsi:type="dcterms:W3CDTF">2026-08-21T18:55:29Z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18928b7-7596-469a-b9a0-446e62fe8e64_Enabled">
    <vt:lpwstr>true</vt:lpwstr>
  </property>
  <property fmtid="{D5CDD505-2E9C-101B-9397-08002B2CF9AE}" pid="3" name="MSIP_Label_918928b7-7596-469a-b9a0-446e62fe8e64_SetDate">
    <vt:lpwstr>2025-10-14T20:07:17Z</vt:lpwstr>
  </property>
  <property fmtid="{D5CDD505-2E9C-101B-9397-08002B2CF9AE}" pid="4" name="MSIP_Label_918928b7-7596-469a-b9a0-446e62fe8e64_Method">
    <vt:lpwstr>Privileged</vt:lpwstr>
  </property>
  <property fmtid="{D5CDD505-2E9C-101B-9397-08002B2CF9AE}" pid="5" name="MSIP_Label_918928b7-7596-469a-b9a0-446e62fe8e64_Name">
    <vt:lpwstr>일반(비암호화)</vt:lpwstr>
  </property>
  <property fmtid="{D5CDD505-2E9C-101B-9397-08002B2CF9AE}" pid="6" name="MSIP_Label_918928b7-7596-469a-b9a0-446e62fe8e64_SiteId">
    <vt:lpwstr>98d217c4-d11b-42be-95e8-0f08680523b6</vt:lpwstr>
  </property>
  <property fmtid="{D5CDD505-2E9C-101B-9397-08002B2CF9AE}" pid="7" name="MSIP_Label_918928b7-7596-469a-b9a0-446e62fe8e64_ActionId">
    <vt:lpwstr>4408a67c-84e5-4ea1-a3a3-6436651cd236</vt:lpwstr>
  </property>
  <property fmtid="{D5CDD505-2E9C-101B-9397-08002B2CF9AE}" pid="8" name="MSIP_Label_918928b7-7596-469a-b9a0-446e62fe8e64_ContentBits">
    <vt:lpwstr>0</vt:lpwstr>
  </property>
  <property fmtid="{D5CDD505-2E9C-101B-9397-08002B2CF9AE}" pid="9" name="MSIP_Label_918928b7-7596-469a-b9a0-446e62fe8e64_Tag">
    <vt:lpwstr>10, 0, 1, 2</vt:lpwstr>
  </property>
  <property fmtid="{D5CDD505-2E9C-101B-9397-08002B2CF9AE}" pid="10" name="ContentTypeId">
    <vt:lpwstr>0x010100C89DB269FBBB6F47AB2DF963C1853C01</vt:lpwstr>
  </property>
  <property fmtid="{D5CDD505-2E9C-101B-9397-08002B2CF9AE}" pid="11" name="Order">
    <vt:r8>7365100</vt:r8>
  </property>
  <property fmtid="{D5CDD505-2E9C-101B-9397-08002B2CF9AE}" pid="12" name="ComplianceAssetId">
    <vt:lpwstr/>
  </property>
  <property fmtid="{D5CDD505-2E9C-101B-9397-08002B2CF9AE}" pid="13" name="_ExtendedDescription">
    <vt:lpwstr/>
  </property>
  <property fmtid="{D5CDD505-2E9C-101B-9397-08002B2CF9AE}" pid="14" name="TriggerFlowInfo">
    <vt:lpwstr/>
  </property>
  <property fmtid="{D5CDD505-2E9C-101B-9397-08002B2CF9AE}" pid="15" name="MediaServiceImageTags">
    <vt:lpwstr/>
  </property>
</Properties>
</file>